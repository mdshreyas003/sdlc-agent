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7373fc-7dfe-e7ad-9919-4f19050c8baa}">
          <p14:sldIdLst>
            <p14:sldId id="256"/>
          </p14:sldIdLst>
        </p14:section>
        <p14:section name="Problem" id="{9d469efa-061a-28df-8536-5b2216c2e6c0}">
          <p14:sldIdLst>
            <p14:sldId id="257"/>
          </p14:sldIdLst>
        </p14:section>
        <p14:section name="Approach" id="{76272d75-dcd5-30e0-b081-b904e17b19a4}">
          <p14:sldIdLst>
            <p14:sldId id="258"/>
            <p14:sldId id="259"/>
          </p14:sldIdLst>
        </p14:section>
        <p14:section name="Approach" id="{8a0da015-c785-629e-9b7b-670be4dee86f}">
          <p14:sldIdLst/>
        </p14:section>
        <p14:section name="Live demo" id="{9c8d466c-b3ba-4e24-290b-c427abe8eb7d}">
          <p14:sldIdLst>
            <p14:sldId id="260"/>
            <p14:sldId id="261"/>
            <p14:sldId id="262"/>
          </p14:sldIdLst>
        </p14:section>
        <p14:section name="Live demo" id="{53c0577c-6042-fb9f-057d-7e5aefef69a6}">
          <p14:sldIdLst/>
        </p14:section>
        <p14:section name="Live demo" id="{66274bcf-341e-ee7d-cae2-ae14918a6f99}">
          <p14:sldIdLst/>
        </p14:section>
        <p14:section name="Proof" id="{ac75826a-c3c3-4320-c17c-c1fed0910afa}">
          <p14:sldIdLst>
            <p14:sldId id="263"/>
          </p14:sldIdLst>
        </p14:section>
        <p14:section name="Close" id="{34e54831-c924-e515-d71b-bae411f67a9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RAG agent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Citation validity</c:v>
                  </c:pt>
                  <c:pt idx="1">
                    <c:v>Correct abstention</c:v>
                  </c:pt>
                  <c:pt idx="2">
                    <c:v>Claims with source</c:v>
                  </c:pt>
                  <c:pt idx="3">
                    <c:v>Answer accuracy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12</c:v>
                </c:pt>
                <c:pt idx="2">
                  <c:v>41</c:v>
                </c:pt>
                <c:pt idx="3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Engineering Memory</c:v>
                </c:pt>
              </c:strCache>
            </c:strRef>
          </c:tx>
          <c:spPr>
            <a:solidFill>
              <a:srgbClr val="34D39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5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Citation validity</c:v>
                  </c:pt>
                  <c:pt idx="1">
                    <c:v>Correct abstention</c:v>
                  </c:pt>
                  <c:pt idx="2">
                    <c:v>Claims with source</c:v>
                  </c:pt>
                  <c:pt idx="3">
                    <c:v>Answer accuracy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90</c:v>
                </c:pt>
                <c:pt idx="2">
                  <c:v>96</c:v>
                </c:pt>
                <c:pt idx="3">
                  <c:v>88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1F5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majorGridlines>
          <c:spPr>
            <a:ln w="6350" cap="flat">
              <a:solidFill>
                <a:srgbClr val="1E293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94A3B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promise: not another chat-over-your-repo bot. Every answer links to the commit, PR or ticket that said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under 30 seconds. One concrete story beats statistics: someone deletes a retry cap because nobody remembers the incident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research contribution: evidence-constrained retrieval with code-verified provenance, plus calibrated abstention.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Model-agnostic (Azure Foundry or Sarvam). Demo and live share one code path, so what you see is the real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line 14. Point at the 4 supported / 1 inferred / 2 unknown counts, then click a chip to land on the exact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RAG: those systems connect things by similarity. We connect them only when a source said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memorable moment. Most teams hide failures; we show the abstention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numbers are illustrative targets. Replace with measured results from the eval harness before presenting them as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one-liner: every other agent tells you why; we show you where it said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 MEMORY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code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this?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with receipts.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3891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graph over GitHub and Jira. Every claim cites its source, or honestly says “not established”.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0"/>
            <a:ext cx="329184" cy="329184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5669280"/>
            <a:ext cx="329184" cy="32918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5669280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377440" y="5733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· sdlc-agent-five.vercel.app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5934456" y="1133856"/>
            <a:ext cx="5870448" cy="3710178"/>
          </a:xfrm>
          <a:prstGeom prst="roundRect">
            <a:avLst>
              <a:gd name="adj" fmla="val 246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3" descr="C:\Users\mohi_shr\AppData\Local\Temp\claude\C--Users-mohi-shr-source-repos-hackfront\013ba36a-8ea4-4821-a972-4745b969bef5\scratchpad\shots\wh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188720"/>
            <a:ext cx="5760720" cy="36004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decisions live in three places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918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and PRs show what changed, rarely why.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182880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48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1772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4617720" y="32918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hold the requirement, detached from the code.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046720" y="182880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48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6676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8366760" y="32918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debate happens in threads that vanish.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11C33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leave. Context rots. Teams change code they don’t understand, and the outage that follows is paid for in hours, not lines.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NOT JUST ASK A CODING AGENT?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design bets that make answers trustworthy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645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TYPICAL AGENT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 MEMORY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50008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520440" y="2057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Guessed from keywords and timing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500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818120" y="20574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explicit: PR ↔ commit, PAY-412, permalinks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308152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8152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3374136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20440" y="3081528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queries, free rein</a:t>
            </a:r>
            <a:endParaRPr lang="en-US" sz="15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3374136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818120" y="30815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read-only, capped graph tools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4105656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410565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4398264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520440" y="4105656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URLs, never checked</a:t>
            </a:r>
            <a:endParaRPr lang="en-US" sz="15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4398264"/>
            <a:ext cx="274320" cy="2743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818120" y="4105656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in code; unretrieved ones dropped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548640" y="5129784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822960" y="5129784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Unknowns</a:t>
            </a:r>
            <a:endParaRPr lang="en-US" sz="1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960" y="5422392"/>
            <a:ext cx="274320" cy="2743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520440" y="5129784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answers confidently</a:t>
            </a:r>
            <a:endParaRPr lang="en-US" sz="15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5422392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818120" y="512978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established” is a first-class answer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scattered artifacts to a verified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0F172A"/>
          </a:solidFill>
          <a:ln w="22225">
            <a:solidFill>
              <a:srgbClr val="6474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40280"/>
            <a:ext cx="146304" cy="146304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· Jira · Slack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51760" y="2880360"/>
            <a:ext cx="1371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88920" y="20116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0F172A"/>
          </a:solidFill>
          <a:ln w="22225">
            <a:solidFill>
              <a:srgbClr val="22D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2240280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explicit links only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92040" y="2880360"/>
            <a:ext cx="1371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9200" y="20116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0F172A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2240280"/>
            <a:ext cx="146304" cy="14630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57800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graph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Neo4j · origin per edge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32320" y="2880360"/>
            <a:ext cx="1371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269480" y="20116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0F172A"/>
          </a:solidFill>
          <a:ln w="22225">
            <a:solidFill>
              <a:srgbClr val="34D39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2240280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0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harness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bounded read-only tools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72600" y="2880360"/>
            <a:ext cx="1371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9760" y="20116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0F172A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2240280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38360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answer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supported · inferred · unknown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480560"/>
            <a:ext cx="3474720" cy="82296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“why is this line like this?”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297680" y="4480560"/>
            <a:ext cx="3474720" cy="82296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9768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this error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46720" y="4480560"/>
            <a:ext cx="3474720" cy="82296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safe to change?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TASKFLOW REPO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line. Get the reason, with sources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545336"/>
            <a:ext cx="7882128" cy="4967478"/>
          </a:xfrm>
          <a:prstGeom prst="roundRect">
            <a:avLst>
              <a:gd name="adj" fmla="val 184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pic>
        <p:nvPicPr>
          <p:cNvPr id="5" name="Image 0" descr="C:\Users\mohi_shr\AppData\Local\Temp\claude\C--Users-mohi-shr-source-repos-hackfront\013ba36a-8ea4-4821-a972-4745b969bef5\scratchpad\shots\w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772400" cy="48577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14500" y="3387852"/>
            <a:ext cx="4624578" cy="145733"/>
          </a:xfrm>
          <a:prstGeom prst="roundRect">
            <a:avLst>
              <a:gd name="adj" fmla="val 31372"/>
            </a:avLst>
          </a:prstGeom>
          <a:solidFill>
            <a:srgbClr val="22D3EE">
              <a:alpha val="12000"/>
            </a:srgbClr>
          </a:solidFill>
          <a:ln w="28575">
            <a:solidFill>
              <a:srgbClr val="22D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6484" y="3259836"/>
            <a:ext cx="274320" cy="27432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86484" y="32598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393485" y="2523173"/>
            <a:ext cx="1904238" cy="1117283"/>
          </a:xfrm>
          <a:prstGeom prst="roundRect">
            <a:avLst>
              <a:gd name="adj" fmla="val 4092"/>
            </a:avLst>
          </a:prstGeom>
          <a:solidFill>
            <a:srgbClr val="34D399">
              <a:alpha val="12000"/>
            </a:srgbClr>
          </a:solidFill>
          <a:ln w="28575">
            <a:solidFill>
              <a:srgbClr val="34D39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65469" y="2395157"/>
            <a:ext cx="274320" cy="274320"/>
          </a:xfrm>
          <a:prstGeom prst="ellipse">
            <a:avLst/>
          </a:prstGeom>
          <a:solidFill>
            <a:srgbClr val="34D399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5469" y="239515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93485" y="4845177"/>
            <a:ext cx="1904238" cy="777240"/>
          </a:xfrm>
          <a:prstGeom prst="roundRect">
            <a:avLst>
              <a:gd name="adj" fmla="val 5882"/>
            </a:avLst>
          </a:prstGeom>
          <a:solidFill>
            <a:srgbClr val="FBBF24">
              <a:alpha val="12000"/>
            </a:srgbClr>
          </a:solidFill>
          <a:ln w="28575">
            <a:solidFill>
              <a:srgbClr val="FBBF2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65469" y="4717161"/>
            <a:ext cx="274320" cy="274320"/>
          </a:xfrm>
          <a:prstGeom prst="ellipse">
            <a:avLst/>
          </a:prstGeom>
          <a:solidFill>
            <a:srgbClr val="FBBF24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5469" y="471716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714500" y="5020056"/>
            <a:ext cx="4624578" cy="1214438"/>
          </a:xfrm>
          <a:prstGeom prst="roundRect">
            <a:avLst>
              <a:gd name="adj" fmla="val 3765"/>
            </a:avLst>
          </a:prstGeom>
          <a:solidFill>
            <a:srgbClr val="A78BFA">
              <a:alpha val="12000"/>
            </a:srgbClr>
          </a:solidFill>
          <a:ln w="28575">
            <a:solidFill>
              <a:srgbClr val="A78BF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86484" y="4892040"/>
            <a:ext cx="274320" cy="274320"/>
          </a:xfrm>
          <a:prstGeom prst="ellipse">
            <a:avLst/>
          </a:prstGeom>
          <a:solidFill>
            <a:srgbClr val="A78BFA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586484" y="4892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32520" y="1691640"/>
            <a:ext cx="310896" cy="310896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3252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189720" y="16733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line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984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14 of auth.py: real GitHub + Jira data.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732520" y="2770632"/>
            <a:ext cx="310896" cy="3108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32520" y="2770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189720" y="27523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with sources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189720" y="3063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links to a commit, PR or ticket.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732520" y="3849624"/>
            <a:ext cx="310896" cy="31089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732520" y="3849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189720" y="383133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gaps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189720" y="41422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and inferred are labelled.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732520" y="492861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732520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9189720" y="49103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timeline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189720" y="52212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KAN-5 → commits → PR #3.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EVIDENCE GRAPH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is a link a source actually stated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3776" y="1682496"/>
            <a:ext cx="7882128" cy="3799985"/>
          </a:xfrm>
          <a:prstGeom prst="roundRect">
            <a:avLst>
              <a:gd name="adj" fmla="val 2406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pic>
        <p:nvPicPr>
          <p:cNvPr id="5" name="Image 0" descr="C:\Users\mohi_shr\AppData\Local\Temp\claude\C--Users-mohi-shr-source-repos-hackfront\013ba36a-8ea4-4821-a972-4745b969bef5\scratchpad\shots\grap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772400" cy="369025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65783" y="2313040"/>
            <a:ext cx="520751" cy="468663"/>
          </a:xfrm>
          <a:prstGeom prst="roundRect">
            <a:avLst>
              <a:gd name="adj" fmla="val 9755"/>
            </a:avLst>
          </a:prstGeom>
          <a:solidFill>
            <a:srgbClr val="FB923C">
              <a:alpha val="12000"/>
            </a:srgbClr>
          </a:solidFill>
          <a:ln w="28575">
            <a:solidFill>
              <a:srgbClr val="FB923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7767" y="2185024"/>
            <a:ext cx="274320" cy="274320"/>
          </a:xfrm>
          <a:prstGeom prst="ellipse">
            <a:avLst/>
          </a:prstGeom>
          <a:solidFill>
            <a:srgbClr val="FB923C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37767" y="218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98134" y="3730099"/>
            <a:ext cx="551840" cy="457592"/>
          </a:xfrm>
          <a:prstGeom prst="roundRect">
            <a:avLst>
              <a:gd name="adj" fmla="val 9991"/>
            </a:avLst>
          </a:prstGeom>
          <a:solidFill>
            <a:srgbClr val="A78BFA">
              <a:alpha val="12000"/>
            </a:srgbClr>
          </a:solidFill>
          <a:ln w="28575">
            <a:solidFill>
              <a:srgbClr val="A78B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70118" y="3602083"/>
            <a:ext cx="274320" cy="274320"/>
          </a:xfrm>
          <a:prstGeom prst="ellipse">
            <a:avLst/>
          </a:prstGeom>
          <a:solidFill>
            <a:srgbClr val="A78BFA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70118" y="36020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312975" y="4383274"/>
            <a:ext cx="5425135" cy="457592"/>
          </a:xfrm>
          <a:prstGeom prst="roundRect">
            <a:avLst>
              <a:gd name="adj" fmla="val 9991"/>
            </a:avLst>
          </a:prstGeom>
          <a:solidFill>
            <a:srgbClr val="60A5FA">
              <a:alpha val="12000"/>
            </a:srgbClr>
          </a:solidFill>
          <a:ln w="28575">
            <a:solidFill>
              <a:srgbClr val="60A5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84959" y="4255258"/>
            <a:ext cx="274320" cy="274320"/>
          </a:xfrm>
          <a:prstGeom prst="ellipse">
            <a:avLst/>
          </a:prstGeom>
          <a:solidFill>
            <a:srgbClr val="60A5FA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84959" y="42552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32520" y="1783080"/>
            <a:ext cx="310896" cy="310896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3252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17647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issue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189720" y="20756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KAN-5: the requirement.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732520" y="286207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32520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28437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3154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ties the work together.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732520" y="3941064"/>
            <a:ext cx="310896" cy="31089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73252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189720" y="39227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189720" y="423367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line = explicit link, never inferred.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760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keyword matching. No timing guesses. Each edge stores its origin and source locator.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· THE HONEST ANSWER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something that isn’t in the evidence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85216" y="1545336"/>
            <a:ext cx="4315968" cy="3771631"/>
          </a:xfrm>
          <a:prstGeom prst="roundRect">
            <a:avLst>
              <a:gd name="adj" fmla="val 242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0000"/>
              </a:srgbClr>
            </a:outerShdw>
          </a:effectLst>
        </p:spPr>
      </p:sp>
      <p:pic>
        <p:nvPicPr>
          <p:cNvPr id="5" name="Image 0" descr="C:\Users\mohi_shr\AppData\Local\Temp\claude\C--Users-mohi-shr-source-repos-hackfront\013ba36a-8ea4-4821-a972-4745b969bef5\scratchpad\shots\abstain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206240" cy="36619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6267" y="3456785"/>
            <a:ext cx="3953866" cy="1237723"/>
          </a:xfrm>
          <a:prstGeom prst="roundRect">
            <a:avLst>
              <a:gd name="adj" fmla="val 3694"/>
            </a:avLst>
          </a:prstGeom>
          <a:solidFill>
            <a:srgbClr val="FBBF24">
              <a:alpha val="12000"/>
            </a:srgbClr>
          </a:solidFill>
          <a:ln w="28575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38251" y="3328769"/>
            <a:ext cx="274320" cy="274320"/>
          </a:xfrm>
          <a:prstGeom prst="ellipse">
            <a:avLst/>
          </a:prstGeom>
          <a:solidFill>
            <a:srgbClr val="FBBF24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8251" y="33287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6267" y="4734789"/>
            <a:ext cx="3953866" cy="413795"/>
          </a:xfrm>
          <a:prstGeom prst="roundRect">
            <a:avLst>
              <a:gd name="adj" fmla="val 11049"/>
            </a:avLst>
          </a:prstGeom>
          <a:solidFill>
            <a:srgbClr val="FB7185">
              <a:alpha val="12000"/>
            </a:srgbClr>
          </a:solidFill>
          <a:ln w="28575">
            <a:solidFill>
              <a:srgbClr val="FB718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8251" y="4606773"/>
            <a:ext cx="274320" cy="274320"/>
          </a:xfrm>
          <a:prstGeom prst="ellipse">
            <a:avLst/>
          </a:prstGeom>
          <a:solidFill>
            <a:srgbClr val="FB7185"/>
          </a:solidFill>
          <a:ln w="19050">
            <a:solidFill>
              <a:srgbClr val="0206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8251" y="46067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16916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we choose Redis for the session cache?”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5394960" y="2926080"/>
            <a:ext cx="310896" cy="31089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90779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Searches, then searches again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852160" y="321868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phrasings, zero rows each, 11 steps in all.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394960" y="4005072"/>
            <a:ext cx="310896" cy="310896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9496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06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852160" y="3986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evidence, no claim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852160" y="4297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evidence retrieved yet”: it won’t invent a rationale.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394960" y="5212080"/>
            <a:ext cx="6217920" cy="777240"/>
          </a:xfrm>
          <a:prstGeom prst="roundRect">
            <a:avLst>
              <a:gd name="adj" fmla="val 14118"/>
            </a:avLst>
          </a:prstGeom>
          <a:solidFill>
            <a:srgbClr val="111C3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77840" y="52120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comes from knowing when the system doesn’t know.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 · ILLUSTRATIVE TARGETS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trust against a baseline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645920"/>
            <a:ext cx="3749040" cy="192024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783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743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citations, by construction: unretrieved URLs are dropped in code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863840" y="3794760"/>
            <a:ext cx="3749040" cy="1965960"/>
          </a:xfrm>
          <a:prstGeom prst="roundRect">
            <a:avLst>
              <a:gd name="adj" fmla="val 5581"/>
            </a:avLst>
          </a:prstGeom>
          <a:solidFill>
            <a:srgbClr val="111C33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0" y="3931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 SET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25196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“why” questions on the TaskFlow repo, including unanswerable ones. Baseline: plain retrieval over the same GitHub + Jira data.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Illustrative targets, not measured results. Baseline figures are estimates pending the eval run.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THIS GOES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a why-engine, tomorrow a safety net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0F172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+ Jira evidence graph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cited “why” answers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abstention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0F172A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5146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threads in the graph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it safe to change?” impact view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dashboard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0F172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5146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and org workspaces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PR-time guardrails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drift alerts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links to its source. Try it live.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77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sdlc-agent-five.vercel.app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chify Dark">
  <a:themeElements>
    <a:clrScheme name="Archify Dark">
      <a:dk1>
        <a:srgbClr val="020617"/>
      </a:dk1>
      <a:lt1>
        <a:srgbClr val="F1F5F9"/>
      </a:lt1>
      <a:dk2>
        <a:srgbClr val="0F172A"/>
      </a:dk2>
      <a:lt2>
        <a:srgbClr val="94A3B8"/>
      </a:lt2>
      <a:accent1>
        <a:srgbClr val="34D399"/>
      </a:accent1>
      <a:accent2>
        <a:srgbClr val="FBBF24"/>
      </a:accent2>
      <a:accent3>
        <a:srgbClr val="A78BFA"/>
      </a:accent3>
      <a:accent4>
        <a:srgbClr val="22D3EE"/>
      </a:accent4>
      <a:accent5>
        <a:srgbClr val="FB7185"/>
      </a:accent5>
      <a:accent6>
        <a:srgbClr val="60A5FA"/>
      </a:accent6>
      <a:hlink>
        <a:srgbClr val="22D3EE"/>
      </a:hlink>
      <a:folHlink>
        <a:srgbClr val="A78BFA"/>
      </a:folHlink>
    </a:clrScheme>
    <a:fontScheme name="Archify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Memory</dc:title>
  <dc:subject>PptxGenJS Presentation</dc:subject>
  <dc:creator>PptxGenJS</dc:creator>
  <cp:lastModifiedBy>PptxGenJS</cp:lastModifiedBy>
  <cp:revision>1</cp:revision>
  <dcterms:created xsi:type="dcterms:W3CDTF">2026-10-22T17:34:39Z</dcterms:created>
  <dcterms:modified xsi:type="dcterms:W3CDTF">2026-10-22T17:34:39Z</dcterms:modified>
</cp:coreProperties>
</file>